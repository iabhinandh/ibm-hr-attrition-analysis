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4114800" cy="457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Employees Leave &amp; What HR Can Do About 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Dataset  |  1,470 Employees  |  35 Variables  |  Tools: Excel · MySQL · Power BI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256032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9502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407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3931920"/>
            <a:ext cx="256032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39502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16.12%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4407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3931920"/>
            <a:ext cx="256032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39502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53.19%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4407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Problem Statement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Context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3749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is one of the most costly challenges facing modern organisations.
</a:t>
            </a:r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an employee costs 50–200% of their annual salary — including recruitment, onboarding and lost productivity.
</a:t>
            </a:r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HR Director raised a critical concern: the company is losing too many good people, and no one has diagnosed why.
</a:t>
            </a:r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was commissioned to identify the root causes of attrition and recommend targeted, data-driven actions.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3566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92040" y="1572768"/>
            <a:ext cx="3749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73736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17373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our current attrition rate?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19476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 vs industry benchmark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28600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2286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attrition happening?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4963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and roles are most at risk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83464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28346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leaving?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0449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tenure, and salary profile of leavers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338328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33832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they leaving?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3593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factors most strongly predict attrition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93192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9319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HR do?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41422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Actionable, data-backed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Data Audit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9202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515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9202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515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1005840"/>
            <a:ext cx="19202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0515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03120"/>
            <a:ext cx="40233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1214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Dropped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2578608"/>
            <a:ext cx="1188720" cy="256032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578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EmployeeCount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83080" y="25786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value = 1 across all rows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081528"/>
            <a:ext cx="1188720" cy="256032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081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Over18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83080" y="30815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value = Y across all rows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584448"/>
            <a:ext cx="1188720" cy="256032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584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StandardHours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83080" y="35844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value = 80 across all rows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087368"/>
            <a:ext cx="1188720" cy="256032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873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EmployeeNumber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83080" y="40873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 — not a predictor, kept as index only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10312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103120"/>
            <a:ext cx="4023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1214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92040" y="2578608"/>
            <a:ext cx="10972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578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8076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or duplicates detected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3054096"/>
            <a:ext cx="10972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054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30540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84% No, 16% Yes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92040" y="3529584"/>
            <a:ext cx="10972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529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PerformanceRating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80760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values 3 &amp; 4 found — scale is 1–4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4005072"/>
            <a:ext cx="10972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40050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ranges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80760" y="4005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satisfaction columns within valid ranges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92040" y="4480560"/>
            <a:ext cx="1097280" cy="2560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480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80760" y="4480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16.12% rate is above 10–15% industry avg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Feature Engineering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23444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00200" y="1188720"/>
            <a:ext cx="182880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1005840"/>
            <a:ext cx="12344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005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1188720"/>
            <a:ext cx="182880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05840"/>
            <a:ext cx="12344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05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1188720"/>
            <a:ext cx="182880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005840"/>
            <a:ext cx="1234440" cy="5029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005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1188720"/>
            <a:ext cx="182880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005840"/>
            <a:ext cx="12344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005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Import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69480" y="1188720"/>
            <a:ext cx="182880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1005840"/>
            <a:ext cx="123444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1005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Ready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6916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1691640"/>
            <a:ext cx="54864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1746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Attrition_Flag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1984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Yes/No  →  1/0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2185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numerical attrition rate calculations in SQL and Power BI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65176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651760"/>
            <a:ext cx="54864" cy="8229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706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2944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IF Age&lt;30→'18-30', &lt;40→'30-40', &lt;50→'40-50', else '50+'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3145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employees into career-stage bands for demographic analysis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6118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611880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666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Tenure_Group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39044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IF Yrs&lt;3→'0-2', &lt;6→'3-5', &lt;11→'6-10', else '10+'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4105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early attrition window vs settled employee segments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16916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1691640"/>
            <a:ext cx="54864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1746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Salary_Slab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1984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IF Income&lt;5k→'Low', &lt;10k→'Medium', else 'High'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2185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continuous salary into HR compensation bands for comparison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265176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2651760"/>
            <a:ext cx="54864" cy="8229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2706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OT_Label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92040" y="2944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OverTime_Flag  →  Yes/No text label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92040" y="3145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legend labels for Power BI overtime visualisations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1,470 rows × 37 columns — cleaned, engineered, and imported to MySQL for EDA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MySQL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queries structured across two tiers — single variable analysis followed by cross-tabulation: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4023360" cy="3657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356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Variable Queries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01952"/>
            <a:ext cx="292608" cy="2560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0195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1901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16.12% — above industry avg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304288"/>
            <a:ext cx="292608" cy="2560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042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department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2304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worst at 20.63%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706624"/>
            <a:ext cx="292608" cy="2560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0662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2706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age group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27066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18-30 at 27.91%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108960"/>
            <a:ext cx="292608" cy="2560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089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3108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overtime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3108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workers at 30.53%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511296"/>
            <a:ext cx="292608" cy="2560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1129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3511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salary slab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97480" y="3511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earners at 21.76%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913632"/>
            <a:ext cx="292608" cy="2560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136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tenure group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97480" y="39136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0-2 years at 43.90%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4315968"/>
            <a:ext cx="292608" cy="2560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3159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8680" y="4315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job role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97480" y="4315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 at 39.76%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1417320"/>
            <a:ext cx="402336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14356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Cross-Tabulation Queries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92040" y="1938528"/>
            <a:ext cx="292608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193852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57800" y="1938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× Department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92040" y="2231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OT = 37.50%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2560320"/>
            <a:ext cx="292608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5603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57800" y="2560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× OverTime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92040" y="2852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18-30 + OT = 53.19%  ← smoking gun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92040" y="3182112"/>
            <a:ext cx="292608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1821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257800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× Tenure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92040" y="3474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0-2 yrs all in Low bracket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92040" y="3566160"/>
            <a:ext cx="37490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83480" y="3611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Department, OverTime,
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(100.0 *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(Attrition_Flag) /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(*), 2) AS attrition_rate
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hr_attrition_clean
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Department, OverTime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Attrition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06040" cy="12344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789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16.12%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836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industry avg of 10-15%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0604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0789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20.63%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46120" y="1627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department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8836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attrition by dept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0604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0789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30.53%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26480" y="1627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overtime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8836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10.44% without — 3× higher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39319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Department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37360" y="2898648"/>
            <a:ext cx="3001102" cy="2560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4182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20.63%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37360" y="3493008"/>
            <a:ext cx="2771255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4335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737360" y="4087368"/>
            <a:ext cx="2013343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6423" y="4069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13.84%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82380" y="2834640"/>
            <a:ext cx="0" cy="1554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899500" y="44074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16.12%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17720" y="2377440"/>
            <a:ext cx="4160520" cy="2468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2487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is the #1 Attrition Driver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2816352"/>
            <a:ext cx="3840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971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overtime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2990088"/>
            <a:ext cx="2194560" cy="23774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31352" y="29718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30.53%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3657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overtime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3675888"/>
            <a:ext cx="7772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4032" y="36576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10.44%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0" y="4206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is toxic company-wide. R&amp;D without overtime sits at just 8.55% — the department is not the problem, the workload policy is.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The Early Career Pipeline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tenure, and salary tell a single connected story — not three separate problems.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Age Group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34440" y="1847088"/>
            <a:ext cx="1173962" cy="23774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4122" y="1828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27.91%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95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34440" y="2414016"/>
            <a:ext cx="601913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82073" y="23957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14.31%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626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34440" y="2980944"/>
            <a:ext cx="40968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89848" y="29626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9.74%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52958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34440" y="3547872"/>
            <a:ext cx="559009" cy="2377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39169" y="35295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13.29%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2468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51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aged 18-30 leave at 27.91% — nearly double the company average.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13258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3756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Tenure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18288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0-2 yrs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0" y="1847088"/>
            <a:ext cx="1846539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07059" y="1828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43.9%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2395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yrs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0" y="2414016"/>
            <a:ext cx="806336" cy="23774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66856" y="23957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19.17%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29626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6-10 yrs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0" y="2980944"/>
            <a:ext cx="630515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035" y="29626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14.99%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7560" y="352958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0" y="3547872"/>
            <a:ext cx="422727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3247" y="35295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10.05%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37560" y="4160520"/>
            <a:ext cx="2468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4251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half of all employees in their first 2 years leave — 4× the rate of 10+ year employees.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13258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1792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Salary Slab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18288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95160" y="1847088"/>
            <a:ext cx="915278" cy="23774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6158" y="1828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21.76%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2395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95160" y="2414016"/>
            <a:ext cx="468575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09455" y="23957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11.14%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17920" y="29626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95160" y="2980944"/>
            <a:ext cx="374355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15235" y="29626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4160520"/>
            <a:ext cx="2468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4251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earners leave at 21.76%. No high-salary employees exist in the 0-2 year band.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Smoking Gun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× Overtime — Cross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2560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53.19%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18-30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Overtime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1 in 2 leave every year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1280160"/>
            <a:ext cx="5212080" cy="25603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371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breakdown: Age × Overtime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1719072"/>
            <a:ext cx="5212080" cy="3474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7556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17556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overtime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72200" y="17556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overtime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52360" y="17556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66160" y="2103120"/>
            <a:ext cx="5212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21396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18-30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1396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53.19%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21396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17.67%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52360" y="21396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+35.52%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66160" y="2487168"/>
            <a:ext cx="52120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5237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5237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28.22%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25237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9.37%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52360" y="25237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+18.85%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66160" y="2871216"/>
            <a:ext cx="5212080" cy="347472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2907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40-50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2907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17.65%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2907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6.48%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52360" y="2907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+11.17%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66160" y="3255264"/>
            <a:ext cx="52120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291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3291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22.81%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3291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8.62%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52360" y="3291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+14.19%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977640"/>
            <a:ext cx="83210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041648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identifies two parallel workforces: a stable experienced core (40-50, no OT = 6.48%) and a churning junior layer (18-30, with OT = 53.19%). Without targeted intervention, overall attrition will remain structurally elevated regardless of other HR initiatives.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Role-Level &amp; Engagement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937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Job Role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1508760"/>
            <a:ext cx="2770022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10886" y="1481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39.76%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Technician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874520"/>
            <a:ext cx="1667866" cy="21945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8730" y="1847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23.94%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0" y="2240280"/>
            <a:ext cx="1607951" cy="21945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48815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23.08%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Executive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2606040"/>
            <a:ext cx="1217807" cy="21945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58671" y="2578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17.48%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Scientist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0" y="2971800"/>
            <a:ext cx="1121664" cy="21945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62528" y="2944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Director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0" y="3337560"/>
            <a:ext cx="480713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21577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Representative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3703320"/>
            <a:ext cx="478623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19487" y="3675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6.87%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0" y="4069080"/>
            <a:ext cx="341376" cy="2194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82240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Director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0" y="4434840"/>
            <a:ext cx="174171" cy="2194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5035" y="4407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1005840"/>
            <a:ext cx="3200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77840" y="1005840"/>
            <a:ext cx="3200400" cy="3657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10241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Involvement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715000" y="15727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715000" y="1865376"/>
            <a:ext cx="228600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74152" y="18653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33.73%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15000" y="22311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(2)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15000" y="2523744"/>
            <a:ext cx="1280160" cy="23774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68312" y="25237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18.93%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15000" y="28895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(3)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15000" y="3182112"/>
            <a:ext cx="978408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31821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14.40%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715000" y="3547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(4)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15000" y="3840480"/>
            <a:ext cx="61264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8404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9.03%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15000" y="4206240"/>
            <a:ext cx="29260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1500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low job involvement leave at 33.73% — nearly 4× those with high involvement. Engagement is a leading indicator of flight risk.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3 Pages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5943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435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 — Total Employees, Employees Left, Attrition 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2468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128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Department (horizontal bar)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Age Group (bar chart)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Impact (donut chart)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2651760" cy="4572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336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HR Director — 30-second overview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05840"/>
            <a:ext cx="265176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0332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12435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breakdown of all major attrition drivers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2121408"/>
            <a:ext cx="2468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2128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245059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Job Role (9 roles)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Salary Slab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Tenure Group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× Department (grouped bar)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4206240"/>
            <a:ext cx="26517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42336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HR Analyst — root cause investigation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005840"/>
            <a:ext cx="265176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0332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12435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most at risk and what should HR 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121408"/>
            <a:ext cx="2468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2128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245059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× Overtime grouped bar (53.19% highlight)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profile card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summary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recommendations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4206240"/>
            <a:ext cx="26517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42336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HR Leadership — action planning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pages use consistent color logic: Red/Orange = high attrition risk  |  Green = stable/healthy  |  Data labels on all charts for instant readability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actionable interventions — prioritised by impact, targeting the high-risk junior profile: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99032"/>
            <a:ext cx="4114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417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Overtime Policy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12080" y="1435608"/>
            <a:ext cx="11887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4356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05840" y="172821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impact: could reduce attrition by ~30-40% in affected groups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which roles are driving overtime — Sales is the primary concern at 37.50% OT attrition rate
</a:t>
            </a:r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overtime caps or compensation enhancement for roles exceeding standard hours
</a:t>
            </a:r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without overtime sits at 8.55% — prove the model works, then scale across departments
</a:t>
            </a:r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intervention targets the most powerful driver identified in the dataset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14600"/>
            <a:ext cx="54864" cy="107899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587752"/>
            <a:ext cx="411480" cy="4114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2606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Junior Salaries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12080" y="2624328"/>
            <a:ext cx="1188720" cy="23774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6243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291693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impact: disrupts the low-pay → high-attrition pipeline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1546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high-salary employees exist in the 0-2 year tenure band — early staff are uniformly underpaid
</a:t>
            </a:r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performance-linked salary acceleration rather than waiting for tenure-based increments
</a:t>
            </a:r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Sales Representatives (39.76%) and Laboratory Technicians (23.94%) first
</a:t>
            </a:r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salary gap for top junior performers reduces both salary and age-group attrition simultaneously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03320"/>
            <a:ext cx="54864" cy="10789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776472"/>
            <a:ext cx="411480" cy="4114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76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3794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Retention Programme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212080" y="3813048"/>
            <a:ext cx="1188720" cy="23774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813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05840" y="410565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impact: reduces the 43.90% early tenure attrition rate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43434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2 years are the highest-risk window — 43.90% of employees in this band leave
</a:t>
            </a:r>
            <a:pPr indent="0" marL="0">
              <a:buNone/>
            </a:pPr>
            <a:r>
              <a:rPr lang="en-US" sz="9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structured 24-month onboarding and mentorship programme for junior hires
</a:t>
            </a:r>
            <a:pPr indent="0" marL="0">
              <a:buNone/>
            </a:pPr>
            <a:r>
              <a:rPr lang="en-US" sz="9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senior mentors from the stable 40-50 cohort (6.48% attrition) to junior employees
</a:t>
            </a:r>
            <a:pPr indent="0" marL="0">
              <a:buNone/>
            </a:pPr>
            <a:r>
              <a:rPr lang="en-US" sz="9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quarterly career progression conversations and clear promotion pathway visibility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5029200"/>
            <a:ext cx="8979408" cy="1143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657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uncovers a clear, consistent, and actionable story: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444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real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144475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16.12%, attrition is above industry average — this is not noise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location is known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20116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(20.63%) and HR (19.05%) are bleeding talent above the company average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578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is identified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54680" y="257860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(18-30), low-paid, early-tenure, high-overtime employees are the core risk group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45536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1455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smoking gun is clear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54680" y="314553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aged 18-30 working overtime leave at 53.19% — 3× the company average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12464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37124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actions are specific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54680" y="371246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overtime policy, accelerate junior salaries, build a 24-month retention programme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343400"/>
            <a:ext cx="832104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389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Data cleaning &amp; feature engineering   |   MySQL — EDA queries &amp; cross-analysis   |   Power BI — 3-page interactive dashboard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Employee Attrition Analysis</dc:title>
  <dc:subject>PptxGenJS Presentation</dc:subject>
  <dc:creator>Data Analyst</dc:creator>
  <cp:lastModifiedBy>Data Analyst</cp:lastModifiedBy>
  <cp:revision>1</cp:revision>
  <dcterms:created xsi:type="dcterms:W3CDTF">2026-03-25T09:00:54Z</dcterms:created>
  <dcterms:modified xsi:type="dcterms:W3CDTF">2026-03-25T09:00:54Z</dcterms:modified>
</cp:coreProperties>
</file>